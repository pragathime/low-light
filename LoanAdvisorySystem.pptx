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30E47-7CAF-EA94-F621-859862D3042A}" v="117" dt="2026-03-26T05:09:35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mya Prashanth Suvarna" userId="S::pranamya.suvarna@slksoftware.com::5844d485-7fe1-491b-bc0e-37543e7fb5a0" providerId="AD" clId="Web-{00530E47-7CAF-EA94-F621-859862D3042A}"/>
    <pc:docChg chg="modSld sldOrd">
      <pc:chgData name="Pranamya Prashanth Suvarna" userId="S::pranamya.suvarna@slksoftware.com::5844d485-7fe1-491b-bc0e-37543e7fb5a0" providerId="AD" clId="Web-{00530E47-7CAF-EA94-F621-859862D3042A}" dt="2026-03-26T05:09:35.439" v="116" actId="1076"/>
      <pc:docMkLst>
        <pc:docMk/>
      </pc:docMkLst>
      <pc:sldChg chg="modSp">
        <pc:chgData name="Pranamya Prashanth Suvarna" userId="S::pranamya.suvarna@slksoftware.com::5844d485-7fe1-491b-bc0e-37543e7fb5a0" providerId="AD" clId="Web-{00530E47-7CAF-EA94-F621-859862D3042A}" dt="2026-03-26T04:54:42.793" v="79" actId="20577"/>
        <pc:sldMkLst>
          <pc:docMk/>
          <pc:sldMk cId="0" sldId="256"/>
        </pc:sldMkLst>
        <pc:spChg chg="mod">
          <ac:chgData name="Pranamya Prashanth Suvarna" userId="S::pranamya.suvarna@slksoftware.com::5844d485-7fe1-491b-bc0e-37543e7fb5a0" providerId="AD" clId="Web-{00530E47-7CAF-EA94-F621-859862D3042A}" dt="2026-03-26T04:54:42.793" v="79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">
        <pc:chgData name="Pranamya Prashanth Suvarna" userId="S::pranamya.suvarna@slksoftware.com::5844d485-7fe1-491b-bc0e-37543e7fb5a0" providerId="AD" clId="Web-{00530E47-7CAF-EA94-F621-859862D3042A}" dt="2026-03-26T05:09:35.439" v="116" actId="1076"/>
        <pc:sldMkLst>
          <pc:docMk/>
          <pc:sldMk cId="0" sldId="259"/>
        </pc:sldMkLst>
        <pc:spChg chg="mod">
          <ac:chgData name="Pranamya Prashanth Suvarna" userId="S::pranamya.suvarna@slksoftware.com::5844d485-7fe1-491b-bc0e-37543e7fb5a0" providerId="AD" clId="Web-{00530E47-7CAF-EA94-F621-859862D3042A}" dt="2026-03-26T04:57:49.935" v="102" actId="20577"/>
          <ac:spMkLst>
            <pc:docMk/>
            <pc:sldMk cId="0" sldId="259"/>
            <ac:spMk id="11" creationId="{00000000-0000-0000-0000-000000000000}"/>
          </ac:spMkLst>
        </pc:spChg>
        <pc:spChg chg="add del mod">
          <ac:chgData name="Pranamya Prashanth Suvarna" userId="S::pranamya.suvarna@slksoftware.com::5844d485-7fe1-491b-bc0e-37543e7fb5a0" providerId="AD" clId="Web-{00530E47-7CAF-EA94-F621-859862D3042A}" dt="2026-03-26T05:09:35.439" v="116" actId="1076"/>
          <ac:spMkLst>
            <pc:docMk/>
            <pc:sldMk cId="0" sldId="259"/>
            <ac:spMk id="20" creationId="{00000000-0000-0000-0000-000000000000}"/>
          </ac:spMkLst>
        </pc:spChg>
      </pc:sldChg>
      <pc:sldChg chg="ord">
        <pc:chgData name="Pranamya Prashanth Suvarna" userId="S::pranamya.suvarna@slksoftware.com::5844d485-7fe1-491b-bc0e-37543e7fb5a0" providerId="AD" clId="Web-{00530E47-7CAF-EA94-F621-859862D3042A}" dt="2026-03-26T04:19:13.609" v="0"/>
        <pc:sldMkLst>
          <pc:docMk/>
          <pc:sldMk cId="0" sldId="260"/>
        </pc:sldMkLst>
      </pc:sldChg>
      <pc:sldChg chg="delSp modSp ord">
        <pc:chgData name="Pranamya Prashanth Suvarna" userId="S::pranamya.suvarna@slksoftware.com::5844d485-7fe1-491b-bc0e-37543e7fb5a0" providerId="AD" clId="Web-{00530E47-7CAF-EA94-F621-859862D3042A}" dt="2026-03-26T04:57:30.730" v="94" actId="1076"/>
        <pc:sldMkLst>
          <pc:docMk/>
          <pc:sldMk cId="0" sldId="261"/>
        </pc:sldMkLst>
        <pc:spChg chg="mod">
          <ac:chgData name="Pranamya Prashanth Suvarna" userId="S::pranamya.suvarna@slksoftware.com::5844d485-7fe1-491b-bc0e-37543e7fb5a0" providerId="AD" clId="Web-{00530E47-7CAF-EA94-F621-859862D3042A}" dt="2026-03-26T04:57:07.588" v="90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Pranamya Prashanth Suvarna" userId="S::pranamya.suvarna@slksoftware.com::5844d485-7fe1-491b-bc0e-37543e7fb5a0" providerId="AD" clId="Web-{00530E47-7CAF-EA94-F621-859862D3042A}" dt="2026-03-26T04:57:30.730" v="94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Pranamya Prashanth Suvarna" userId="S::pranamya.suvarna@slksoftware.com::5844d485-7fe1-491b-bc0e-37543e7fb5a0" providerId="AD" clId="Web-{00530E47-7CAF-EA94-F621-859862D3042A}" dt="2026-03-26T04:57:24.480" v="93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Pranamya Prashanth Suvarna" userId="S::pranamya.suvarna@slksoftware.com::5844d485-7fe1-491b-bc0e-37543e7fb5a0" providerId="AD" clId="Web-{00530E47-7CAF-EA94-F621-859862D3042A}" dt="2026-03-26T04:57:12.948" v="91" actId="1076"/>
          <ac:spMkLst>
            <pc:docMk/>
            <pc:sldMk cId="0" sldId="261"/>
            <ac:spMk id="16" creationId="{00000000-0000-0000-0000-000000000000}"/>
          </ac:spMkLst>
        </pc:spChg>
        <pc:spChg chg="del">
          <ac:chgData name="Pranamya Prashanth Suvarna" userId="S::pranamya.suvarna@slksoftware.com::5844d485-7fe1-491b-bc0e-37543e7fb5a0" providerId="AD" clId="Web-{00530E47-7CAF-EA94-F621-859862D3042A}" dt="2026-03-26T04:56:42.586" v="8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Pranamya Prashanth Suvarna" userId="S::pranamya.suvarna@slksoftware.com::5844d485-7fe1-491b-bc0e-37543e7fb5a0" providerId="AD" clId="Web-{00530E47-7CAF-EA94-F621-859862D3042A}" dt="2026-03-26T04:56:54.446" v="88" actId="20577"/>
          <ac:spMkLst>
            <pc:docMk/>
            <pc:sldMk cId="0" sldId="261"/>
            <ac:spMk id="18" creationId="{00000000-0000-0000-0000-000000000000}"/>
          </ac:spMkLst>
        </pc:spChg>
        <pc:spChg chg="del">
          <ac:chgData name="Pranamya Prashanth Suvarna" userId="S::pranamya.suvarna@slksoftware.com::5844d485-7fe1-491b-bc0e-37543e7fb5a0" providerId="AD" clId="Web-{00530E47-7CAF-EA94-F621-859862D3042A}" dt="2026-03-26T04:56:57.509" v="89"/>
          <ac:spMkLst>
            <pc:docMk/>
            <pc:sldMk cId="0" sldId="261"/>
            <ac:spMk id="19" creationId="{00000000-0000-0000-0000-000000000000}"/>
          </ac:spMkLst>
        </pc:spChg>
        <pc:spChg chg="del mod">
          <ac:chgData name="Pranamya Prashanth Suvarna" userId="S::pranamya.suvarna@slksoftware.com::5844d485-7fe1-491b-bc0e-37543e7fb5a0" providerId="AD" clId="Web-{00530E47-7CAF-EA94-F621-859862D3042A}" dt="2026-03-26T04:56:48.102" v="83"/>
          <ac:spMkLst>
            <pc:docMk/>
            <pc:sldMk cId="0" sldId="261"/>
            <ac:spMk id="20" creationId="{00000000-0000-0000-0000-000000000000}"/>
          </ac:spMkLst>
        </pc:spChg>
      </pc:sldChg>
      <pc:sldChg chg="modSp">
        <pc:chgData name="Pranamya Prashanth Suvarna" userId="S::pranamya.suvarna@slksoftware.com::5844d485-7fe1-491b-bc0e-37543e7fb5a0" providerId="AD" clId="Web-{00530E47-7CAF-EA94-F621-859862D3042A}" dt="2026-03-26T04:58:29.093" v="113" actId="20577"/>
        <pc:sldMkLst>
          <pc:docMk/>
          <pc:sldMk cId="0" sldId="263"/>
        </pc:sldMkLst>
        <pc:spChg chg="mod">
          <ac:chgData name="Pranamya Prashanth Suvarna" userId="S::pranamya.suvarna@slksoftware.com::5844d485-7fe1-491b-bc0e-37543e7fb5a0" providerId="AD" clId="Web-{00530E47-7CAF-EA94-F621-859862D3042A}" dt="2026-03-26T04:58:29.093" v="113" actId="20577"/>
          <ac:spMkLst>
            <pc:docMk/>
            <pc:sldMk cId="0" sldId="263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27696-1A51-423F-99B4-34C1C2A17196}" type="datetimeFigureOut"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1E0B6-0558-4A59-B367-CA0751F775C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47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0"/>
            <a:ext cx="804672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800" b="1">
                <a:solidFill>
                  <a:srgbClr val="FFFFFF"/>
                </a:solidFill>
                <a:latin typeface="Georgia"/>
                <a:ea typeface="Calibri"/>
                <a:cs typeface="Calibri"/>
              </a:rPr>
              <a:t>INTELLIGENT LOAN PROCESSING ASSISTANT</a:t>
            </a:r>
            <a:endParaRPr lang="en-US" sz="1600">
              <a:solidFill>
                <a:srgbClr val="2F5496"/>
              </a:solidFill>
              <a:highlight>
                <a:srgbClr val="FFFFFF"/>
              </a:highlight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2377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Document Analysis &amp; Risk Assessment Platform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02920" y="2971800"/>
            <a:ext cx="5029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54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RAG · Multi-Agent Architecture · Streamlit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7772400" y="4480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1463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Slow Processing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484632" y="16642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loan review takes days — officers sift through hundreds of pages of policy docs and applications.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88720"/>
            <a:ext cx="54864" cy="1463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Inconsistent Decisions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4965192" y="16642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reviewers vary in judgment, leading to unfair or non-compliant outcomes across branches.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80360"/>
            <a:ext cx="54864" cy="1463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990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 Overload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484632" y="335584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data buried in unstructured PDFs, JSON files, and compliance documents is hard to retrieve quickly.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4800600" y="288036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880360"/>
            <a:ext cx="54864" cy="1463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2990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Privacy Risks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4965192" y="335584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applicant data (PII) exposed during manual review without guardrails or audit trails.</a:t>
            </a:r>
            <a:endParaRPr lang="en-US" sz="11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AI system that automates loan evaluation using multi-agent reasoning, RAG-based document retrieval, and built-in compliance checks.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4069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28800"/>
            <a:ext cx="502920" cy="1371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40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submit loan requests via chatbot interface. System collects docs and answers queries intelligently.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4069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828800"/>
            <a:ext cx="502920" cy="1371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240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5349240" y="19202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Dashboard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5349240" y="22860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officers view AI-generated summaries, risk scores, and compliance flags for each application.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320040" y="3383280"/>
            <a:ext cx="4069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383280"/>
            <a:ext cx="502920" cy="1371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7947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914400" y="3474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Backend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914400" y="38404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handle document analysis, policy lookup, risk scoring, and compliance checks in parallel.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4754880" y="3383280"/>
            <a:ext cx="4069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383280"/>
            <a:ext cx="502920" cy="1371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7947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5349240" y="3474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Guardrails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5349240" y="38404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Presidio-based redaction automatically masks sensitive personal data before processing or storage.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Methodology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18872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484632" y="1645920"/>
            <a:ext cx="0" cy="256032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115568"/>
            <a:ext cx="7955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1704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1005840" y="14447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PDFs, compliance JSONs, rules, and officer data are ingested and chunked. Embeddings generated using all-MiniLM-L6-v2 and stored in ChromaDB.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256032" y="1947672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484632" y="2404872"/>
            <a:ext cx="0" cy="256032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1874520"/>
            <a:ext cx="7955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19293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1005840" y="22037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receives user intent and routes tasks to specialized agents — document, policy, risk, and compliance — running in parallel.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256032" y="2706624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484632" y="3163824"/>
            <a:ext cx="0" cy="256032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2633472"/>
            <a:ext cx="7955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268833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1005840" y="296265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queries ChromaDB with semantic similarity search. Top-k relevant chunks are fetched and injected into LLM prompts as context.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256032" y="3465576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/>
          </a:p>
        </p:txBody>
      </p:sp>
      <p:sp>
        <p:nvSpPr>
          <p:cNvPr id="25" name="Shape 23"/>
          <p:cNvSpPr/>
          <p:nvPr/>
        </p:nvSpPr>
        <p:spPr>
          <a:xfrm>
            <a:off x="484632" y="3922776"/>
            <a:ext cx="0" cy="256032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3392424"/>
            <a:ext cx="7955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5840" y="34472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&amp; Output</a:t>
            </a:r>
            <a:endParaRPr lang="en-US" sz="1250"/>
          </a:p>
        </p:txBody>
      </p:sp>
      <p:sp>
        <p:nvSpPr>
          <p:cNvPr id="28" name="Text 26"/>
          <p:cNvSpPr/>
          <p:nvPr/>
        </p:nvSpPr>
        <p:spPr>
          <a:xfrm>
            <a:off x="1005840" y="37216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synthesize retrieved context with LLM reasoning to generate summaries, risk scores, recommendations, and compliance flags.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256032" y="4224528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/>
          </a:p>
        </p:txBody>
      </p:sp>
      <p:sp>
        <p:nvSpPr>
          <p:cNvPr id="31" name="Shape 29"/>
          <p:cNvSpPr/>
          <p:nvPr/>
        </p:nvSpPr>
        <p:spPr>
          <a:xfrm>
            <a:off x="868680" y="4151376"/>
            <a:ext cx="7955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05840" y="4206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Privacy</a:t>
            </a:r>
            <a:endParaRPr lang="en-US" sz="1250"/>
          </a:p>
        </p:txBody>
      </p:sp>
      <p:sp>
        <p:nvSpPr>
          <p:cNvPr id="33" name="Text 31"/>
          <p:cNvSpPr/>
          <p:nvPr/>
        </p:nvSpPr>
        <p:spPr>
          <a:xfrm>
            <a:off x="1005840" y="4480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scans all inputs and outputs for PII. Compliance prompts enforce regulatory constraints. Results surfaced in Streamlit UI.</a:t>
            </a:r>
            <a:endParaRPr lang="en-US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System — Agent Roles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115568"/>
            <a:ext cx="411480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0624" y="1252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 Agent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420624" y="1664208"/>
            <a:ext cx="3566160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7556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and extracts key fields from uploaded loan application documents. Identifies applicant info, loan amount, purpose, and supporting evidence.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690872" y="1115568"/>
            <a:ext cx="4114800" cy="1691640"/>
          </a:xfrm>
          <a:prstGeom prst="rect">
            <a:avLst/>
          </a:prstGeom>
          <a:solidFill>
            <a:srgbClr val="ECFDF5"/>
          </a:solidFill>
          <a:ln w="12700">
            <a:solidFill>
              <a:srgbClr val="065F46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55464" y="1252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Policy Agent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855464" y="1664208"/>
            <a:ext cx="3566160" cy="0"/>
          </a:xfrm>
          <a:prstGeom prst="line">
            <a:avLst/>
          </a:prstGeom>
          <a:noFill/>
          <a:ln w="6350">
            <a:solidFill>
              <a:srgbClr val="065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17556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loan policies from ChromaDB. Matches application type to eligibility criteria, interest rate tables, and required documentation.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2294666" y="3007148"/>
            <a:ext cx="4114800" cy="1691640"/>
          </a:xfrm>
          <a:prstGeom prst="rect">
            <a:avLst/>
          </a:prstGeom>
          <a:solidFill>
            <a:srgbClr val="FFFBEB"/>
          </a:solidFill>
          <a:ln w="12700">
            <a:solidFill>
              <a:srgbClr val="92400E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82489" y="3084599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Risk Agent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2476318" y="3470489"/>
            <a:ext cx="3566160" cy="0"/>
          </a:xfrm>
          <a:prstGeom prst="line">
            <a:avLst/>
          </a:prstGeom>
          <a:noFill/>
          <a:ln w="6350">
            <a:solidFill>
              <a:srgbClr val="9240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3378" y="3578989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creditworthiness based on income, credit history, debt ratio, and loan type. Outputs a risk band: Low / Medium / High.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855464" y="3127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>
              <a:solidFill>
                <a:srgbClr val="6B21A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15568"/>
            <a:ext cx="8595360" cy="594360"/>
          </a:xfrm>
          <a:prstGeom prst="rect">
            <a:avLst/>
          </a:prstGeom>
          <a:solidFill>
            <a:srgbClr val="EB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UI Layer — Streamlit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2286000" y="11155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Chatbot  |  Application Forms  |  Internal Dashboard  |  Upload Documents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480560" y="1709928"/>
            <a:ext cx="0" cy="22860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938528"/>
            <a:ext cx="859536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385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Agent Layer — Orchestrator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2834640" y="193852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Document Agent  |  Policy Agent  |  Risk Agent 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480560" y="2596896"/>
            <a:ext cx="0" cy="22860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825496"/>
            <a:ext cx="8595360" cy="62179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2549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RAG Layer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2194560" y="2825496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  |  all-MiniLM-L6-v2 Embeddings  |  Similarity Search (threshold: 0.5)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480560" y="3447288"/>
            <a:ext cx="0" cy="22860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675888"/>
            <a:ext cx="8595360" cy="594360"/>
          </a:xfrm>
          <a:prstGeom prst="rect">
            <a:avLst/>
          </a:prstGeom>
          <a:solidFill>
            <a:srgbClr val="FDF4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758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Data Layer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2194560" y="367588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Docs (PDF/JSON)  |  Rules &amp; Compliance  |  Applications  |  Officer Data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7362626" y="1921468"/>
            <a:ext cx="1691640" cy="1508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1956816"/>
            <a:ext cx="1655064" cy="1472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Guardrails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PII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Pipeline — How It Works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371600"/>
            <a:ext cx="1261872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42646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228600" y="20299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JSON, TXT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1490472" y="1874520"/>
            <a:ext cx="201168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1371600"/>
            <a:ext cx="1261872" cy="10058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42646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1691640" y="20299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splitting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2953512" y="1874520"/>
            <a:ext cx="201168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371600"/>
            <a:ext cx="1261872" cy="10058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42646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3154680" y="20299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4416552" y="1874520"/>
            <a:ext cx="201168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371600"/>
            <a:ext cx="1261872" cy="10058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42646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617720" y="20299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loan_db collection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5879592" y="1874520"/>
            <a:ext cx="201168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371600"/>
            <a:ext cx="1261872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42646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&amp;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6080760" y="20299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7342632" y="1874520"/>
            <a:ext cx="201168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1371600"/>
            <a:ext cx="1261872" cy="10058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142646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7543800" y="20299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Context-augmented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256032" y="2788920"/>
            <a:ext cx="1993392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2788920"/>
            <a:ext cx="199339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27889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256032" y="3172968"/>
            <a:ext cx="19933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(sentence-transformers)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2432304" y="2788920"/>
            <a:ext cx="1993392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432304" y="2788920"/>
            <a:ext cx="199339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32304" y="27889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2432304" y="3172968"/>
            <a:ext cx="19933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loan_db</a:t>
            </a:r>
            <a:endParaRPr lang="en-US" sz="1100"/>
          </a:p>
        </p:txBody>
      </p:sp>
      <p:sp>
        <p:nvSpPr>
          <p:cNvPr id="36" name="Shape 34"/>
          <p:cNvSpPr/>
          <p:nvPr/>
        </p:nvSpPr>
        <p:spPr>
          <a:xfrm>
            <a:off x="4608576" y="2788920"/>
            <a:ext cx="1993392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08576" y="2788920"/>
            <a:ext cx="199339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08576" y="27889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4608576" y="3172968"/>
            <a:ext cx="19933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cosine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cutoff</a:t>
            </a:r>
            <a:endParaRPr lang="en-US" sz="1100"/>
          </a:p>
        </p:txBody>
      </p:sp>
      <p:sp>
        <p:nvSpPr>
          <p:cNvPr id="40" name="Shape 38"/>
          <p:cNvSpPr/>
          <p:nvPr/>
        </p:nvSpPr>
        <p:spPr>
          <a:xfrm>
            <a:off x="6784848" y="2788920"/>
            <a:ext cx="1993392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84848" y="2788920"/>
            <a:ext cx="1993392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84848" y="27889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Script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6784848" y="3172968"/>
            <a:ext cx="19933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ingest.py handles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&amp; embedding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115568"/>
            <a:ext cx="2743200" cy="1737360"/>
          </a:xfrm>
          <a:prstGeom prst="rect">
            <a:avLst/>
          </a:prstGeom>
          <a:solidFill>
            <a:srgbClr val="EFF6FF"/>
          </a:solidFill>
          <a:ln w="1016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15568"/>
            <a:ext cx="27432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365760" y="1517904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Web UI framework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chatbot UI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forms &amp; dashboards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3182112" y="1115568"/>
            <a:ext cx="2743200" cy="1737360"/>
          </a:xfrm>
          <a:prstGeom prst="rect">
            <a:avLst/>
          </a:prstGeom>
          <a:solidFill>
            <a:srgbClr val="ECFDF5"/>
          </a:solidFill>
          <a:ln w="10160">
            <a:solidFill>
              <a:srgbClr val="065F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2112" y="1115568"/>
            <a:ext cx="274320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291840" y="1517904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GROQ / LLM API — Reasoning</a:t>
            </a:r>
            <a:endParaRPr lang="en-US" sz="105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— Embeddings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library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6108192" y="1115568"/>
            <a:ext cx="2743200" cy="1737360"/>
          </a:xfrm>
          <a:prstGeom prst="rect">
            <a:avLst/>
          </a:prstGeom>
          <a:solidFill>
            <a:srgbClr val="FFFBE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08192" y="1115568"/>
            <a:ext cx="2743200" cy="34747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&amp; RAG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217920" y="1517904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— Vector storage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retrieval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ingest.py — Embedding pipeline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256032" y="3035808"/>
            <a:ext cx="2743200" cy="1737360"/>
          </a:xfrm>
          <a:prstGeom prst="rect">
            <a:avLst/>
          </a:prstGeom>
          <a:solidFill>
            <a:srgbClr val="FDF4FF"/>
          </a:solidFill>
          <a:ln w="10160">
            <a:solidFill>
              <a:srgbClr val="6B21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3035808"/>
            <a:ext cx="2743200" cy="34747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0358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Compliance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365760" y="3438144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Presidio — PII redaction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compliance prompts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policy enforcement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3182112" y="3035808"/>
            <a:ext cx="2743200" cy="1737360"/>
          </a:xfrm>
          <a:prstGeom prst="rect">
            <a:avLst/>
          </a:prstGeom>
          <a:solidFill>
            <a:srgbClr val="EFF6FF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82112" y="3035808"/>
            <a:ext cx="2743200" cy="3474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30358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3291840" y="3438144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 (venv)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module — state_manager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data stores (officers, apps)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6108192" y="3035808"/>
            <a:ext cx="2743200" cy="1737360"/>
          </a:xfrm>
          <a:prstGeom prst="rect">
            <a:avLst/>
          </a:prstGeom>
          <a:solidFill>
            <a:srgbClr val="F0FDF4"/>
          </a:solidFill>
          <a:ln w="10160">
            <a:solidFill>
              <a:srgbClr val="065F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08192" y="3035808"/>
            <a:ext cx="274320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30358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Docs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6217920" y="3438144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loan policies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rules, applications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persistence layer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&amp; Highlights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115568"/>
            <a:ext cx="2724912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15568"/>
            <a:ext cx="2724912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070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🤝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365760" y="170992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Interface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portals for customers and loan officers, each with role-specific views and capabilities.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163824" y="1115568"/>
            <a:ext cx="2724912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63824" y="1115568"/>
            <a:ext cx="2724912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0984" y="12070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⚡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>
          <a:xfrm>
            <a:off x="3273552" y="170992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RAG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3273552" y="2029968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retrieval from policy documents — no hallucination risk, every answer grounded in official docs.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6071616" y="1115568"/>
            <a:ext cx="2724912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115568"/>
            <a:ext cx="2724912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2070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🔐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6181344" y="170992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Protection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6181344" y="2029968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detection and redaction of names, SSNs, account numbers using Microsoft Presidio.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256032" y="2990088"/>
            <a:ext cx="2724912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990088"/>
            <a:ext cx="2724912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081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📊</a:t>
            </a:r>
            <a:endParaRPr lang="en-US" sz="2200"/>
          </a:p>
        </p:txBody>
      </p:sp>
      <p:sp>
        <p:nvSpPr>
          <p:cNvPr id="23" name="Text 21"/>
          <p:cNvSpPr/>
          <p:nvPr/>
        </p:nvSpPr>
        <p:spPr>
          <a:xfrm>
            <a:off x="365760" y="358444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365760" y="3904488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creditworthiness assessment with Low/Medium/High classification and reasoning.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3163824" y="2990088"/>
            <a:ext cx="2724912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63824" y="2990088"/>
            <a:ext cx="2724912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00984" y="3081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📋</a:t>
            </a:r>
            <a:endParaRPr lang="en-US" sz="2200"/>
          </a:p>
        </p:txBody>
      </p:sp>
      <p:sp>
        <p:nvSpPr>
          <p:cNvPr id="28" name="Text 26"/>
          <p:cNvSpPr/>
          <p:nvPr/>
        </p:nvSpPr>
        <p:spPr>
          <a:xfrm>
            <a:off x="3273552" y="358444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Compliance</a:t>
            </a:r>
            <a:endParaRPr lang="en-US" sz="1250"/>
          </a:p>
        </p:txBody>
      </p:sp>
      <p:sp>
        <p:nvSpPr>
          <p:cNvPr id="29" name="Text 27"/>
          <p:cNvSpPr/>
          <p:nvPr/>
        </p:nvSpPr>
        <p:spPr>
          <a:xfrm>
            <a:off x="3273552" y="3904488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cross-checked against the latest rules.json and compliance policy documents.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6071616" y="2990088"/>
            <a:ext cx="2724912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2990088"/>
            <a:ext cx="2724912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776" y="3081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🔄</a:t>
            </a:r>
            <a:endParaRPr lang="en-US" sz="2200"/>
          </a:p>
        </p:txBody>
      </p:sp>
      <p:sp>
        <p:nvSpPr>
          <p:cNvPr id="33" name="Text 31"/>
          <p:cNvSpPr/>
          <p:nvPr/>
        </p:nvSpPr>
        <p:spPr>
          <a:xfrm>
            <a:off x="6181344" y="358444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</a:t>
            </a:r>
            <a:endParaRPr lang="en-US" sz="1250"/>
          </a:p>
        </p:txBody>
      </p:sp>
      <p:sp>
        <p:nvSpPr>
          <p:cNvPr id="34" name="Text 32"/>
          <p:cNvSpPr/>
          <p:nvPr/>
        </p:nvSpPr>
        <p:spPr>
          <a:xfrm>
            <a:off x="6181344" y="3904488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agent, guardrail, and UI component is independently upgradeable — easy to extend.</a:t>
            </a:r>
            <a:endParaRPr lang="en-US"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795528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3444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end-to-end loan evaluation using a multi-agent AI architecture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9280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grounds all responses in official policy documents — reducing errors</a:t>
            </a:r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548640" y="2596896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5117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PII guardrails (Presidio) ensure applicant data stays protected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548640" y="3255264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0954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Streamlit-based UI provides intuitive portals for both customers and officers</a:t>
            </a:r>
            <a:endParaRPr lang="en-US" sz="1350"/>
          </a:p>
        </p:txBody>
      </p:sp>
      <p:sp>
        <p:nvSpPr>
          <p:cNvPr id="14" name="Shape 12"/>
          <p:cNvSpPr/>
          <p:nvPr/>
        </p:nvSpPr>
        <p:spPr>
          <a:xfrm>
            <a:off x="548640" y="3913632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6791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scalable design — agents and guardrails can be extended independently</a:t>
            </a:r>
            <a:endParaRPr lang="en-US" sz="1350"/>
          </a:p>
        </p:txBody>
      </p:sp>
      <p:sp>
        <p:nvSpPr>
          <p:cNvPr id="16" name="Shape 14"/>
          <p:cNvSpPr/>
          <p:nvPr/>
        </p:nvSpPr>
        <p:spPr>
          <a:xfrm>
            <a:off x="502920" y="4572000"/>
            <a:ext cx="7955280" cy="0"/>
          </a:xfrm>
          <a:prstGeom prst="line">
            <a:avLst/>
          </a:prstGeom>
          <a:noFill/>
          <a:ln w="635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6177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Loan Advisory System</dc:title>
  <dc:subject>PptxGenJS Presentation</dc:subject>
  <dc:creator>PptxGenJS</dc:creator>
  <cp:revision>1</cp:revision>
  <dcterms:created xsi:type="dcterms:W3CDTF">2026-03-26T03:51:00Z</dcterms:created>
  <dcterms:modified xsi:type="dcterms:W3CDTF">2026-03-26T05:10:12Z</dcterms:modified>
</cp:coreProperties>
</file>